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B2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B1B2F"/>
                </a:solidFill>
                <a:latin typeface="Calibri"/>
              </a:rPr>
              <a:t>Routing 1M tickets (500 tokens each)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(USD)</c:v>
                </c:pt>
              </c:strCache>
            </c:strRef>
          </c:tx>
          <c:spPr>
            <a:solidFill>
              <a:srgbClr val="D6339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B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339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8AA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Jev</c:v>
                  </c:pt>
                  <c:pt idx="1">
                    <c:v>Typical LLM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</c:v>
                </c:pt>
                <c:pt idx="1">
                  <c:v>580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1B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1B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connector: it brings TypeSafe Jev, a decision model, into Camunda 8 so processes can make AI-driven choices quickly and cheaply.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processes are full of small judgments. LLMs can make them, but they are built for writing, not deciding.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Jev is a decision function. The three primitives cover almost every branching decision in a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table. Emphasize that these are complementary: let Jev route, and call an LLM only to 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savings come from skipping generation. Numbers are illustrative; always measure with your own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Choice for best match, Noul for every match, Custom for your own questions. All three return traceable metadata.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Jev runs before the ad-hoc sub-process, so a small worker supplies the list of books from the deployed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tournament keeps every call inside Jev limits. Noul mode asks one yes/no question per option, 50 per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call carries process keys, model version, tokens and timing. needsReview flags low-confidence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Jev replaces LLM calls for decisions, not for writing. Use both where each is strongest.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setup. Stress the SECRET_ prefix in Camunda 8.9 and never storing the key in BPMN.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key message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914400" cy="914400"/>
          </a:xfrm>
          <a:prstGeom prst="ellipse">
            <a:avLst/>
          </a:prstGeom>
          <a:solidFill>
            <a:srgbClr val="D6339C"/>
          </a:solidFill>
          <a:ln w="12700">
            <a:solidFill>
              <a:srgbClr val="D6339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17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Jev AI Decision Connector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46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4A6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Camunda 8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typed AI decisions inside your BPMN processes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Ponna  ·  Community connector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process decisions are not essays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Gateways need a value. Calling a chat LLM for every branch is overkill.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731520" cy="731520"/>
          </a:xfrm>
          <a:prstGeom prst="ellipse">
            <a:avLst/>
          </a:prstGeom>
          <a:solidFill>
            <a:srgbClr val="D6339C"/>
          </a:solidFill>
          <a:ln w="12700">
            <a:solidFill>
              <a:srgbClr val="D6339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468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794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generated token by token. Seconds per decision add up in high-volume processes.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97680" y="192024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286000"/>
            <a:ext cx="731520" cy="731520"/>
          </a:xfrm>
          <a:prstGeom prst="ellipse">
            <a:avLst/>
          </a:prstGeom>
          <a:solidFill>
            <a:srgbClr val="D6339C"/>
          </a:solidFill>
          <a:ln w="12700">
            <a:solidFill>
              <a:srgbClr val="D6339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4688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Expensive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794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for input and generated output, on every call, for every question.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046720" y="192024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2286000"/>
            <a:ext cx="731520" cy="731520"/>
          </a:xfrm>
          <a:prstGeom prst="ellipse">
            <a:avLst/>
          </a:prstGeom>
          <a:solidFill>
            <a:srgbClr val="D6339C"/>
          </a:solidFill>
          <a:ln w="12700">
            <a:solidFill>
              <a:srgbClr val="D6339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4688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Fragile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794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must be parsed. A wrong label or broken JSON breaks the process.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63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reject? Which team? Which product? How urgent?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Jev?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TypeSafe AI's first public model, released in early access on September 15, 2026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"System One" model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after Kahneman's fast, intuitive thinking. It does not write text; it returns decisions.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in, typed decisions out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the state and your questions. Jev answers them all in one parallel pass, each with a probability.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0" y="1783080"/>
            <a:ext cx="5669280" cy="1234440"/>
          </a:xfrm>
          <a:prstGeom prst="roundRect">
            <a:avLst>
              <a:gd name="adj" fmla="val 8889"/>
            </a:avLst>
          </a:prstGeom>
          <a:solidFill>
            <a:srgbClr val="FBEAF5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72200" y="2057400"/>
            <a:ext cx="685800" cy="685800"/>
          </a:xfrm>
          <a:prstGeom prst="ellipse">
            <a:avLst/>
          </a:prstGeom>
          <a:solidFill>
            <a:srgbClr val="D6339C"/>
          </a:solidFill>
          <a:ln w="12700">
            <a:solidFill>
              <a:srgbClr val="D6339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3650" y="222885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086600" y="19476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3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noul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2331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strength from 0 to 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26243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this convey urgency?"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3246120"/>
            <a:ext cx="5669280" cy="1234440"/>
          </a:xfrm>
          <a:prstGeom prst="roundRect">
            <a:avLst>
              <a:gd name="adj" fmla="val 8889"/>
            </a:avLst>
          </a:prstGeom>
          <a:solidFill>
            <a:srgbClr val="FBEAF5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3520440"/>
            <a:ext cx="685800" cy="685800"/>
          </a:xfrm>
          <a:prstGeom prst="ellipse">
            <a:avLst/>
          </a:prstGeom>
          <a:solidFill>
            <a:srgbClr val="D6339C"/>
          </a:solidFill>
          <a:ln w="12700">
            <a:solidFill>
              <a:srgbClr val="D6339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50" y="369189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86600" y="34107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3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7086600" y="3794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option from your list (max 255)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086600" y="40873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team should handle this?"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943600" y="4709160"/>
            <a:ext cx="5669280" cy="1234440"/>
          </a:xfrm>
          <a:prstGeom prst="roundRect">
            <a:avLst>
              <a:gd name="adj" fmla="val 8889"/>
            </a:avLst>
          </a:prstGeom>
          <a:solidFill>
            <a:srgbClr val="FBEAF5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4983480"/>
            <a:ext cx="685800" cy="685800"/>
          </a:xfrm>
          <a:prstGeom prst="ellipse">
            <a:avLst/>
          </a:prstGeom>
          <a:solidFill>
            <a:srgbClr val="D6339C"/>
          </a:solidFill>
          <a:ln w="12700">
            <a:solidFill>
              <a:srgbClr val="D6339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5154930"/>
            <a:ext cx="342900" cy="3429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086600" y="48737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3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7086600" y="5257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level on your own scale (2 to 10)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7086600" y="55504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frustrated is the customer?"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vs decision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tools for different jobs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5720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LLM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6B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model (Jev)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339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5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text, token by token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answer: number, option, level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space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5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Open-ended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by you in advance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5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reliably available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probability per answer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5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Needed, can break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None, already typed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5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 to hundreds of 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5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and output tokens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tokens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5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Writing, explaining, coding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Routing, choosing, scoring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63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work best together: Jev decides, an LLM writes only when text is needed.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costs so much less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pay to read the input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633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$0.042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million input tokens. Output is free.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D6339C"/>
          </a:solidFill>
          <a:ln w="12700">
            <a:solidFill>
              <a:srgbClr val="D6339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6118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35478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output tokens to generate or bill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D6339C"/>
          </a:solidFill>
          <a:ln w="12700">
            <a:solidFill>
              <a:srgbClr val="D6339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3891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43251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questions answered in one pass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D6339C"/>
          </a:solidFill>
          <a:ln w="12700">
            <a:solidFill>
              <a:srgbClr val="D6339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1663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51023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fixed answer space</a:t>
            </a:r>
            <a:endParaRPr lang="en-US" sz="16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943600" y="173736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Text 10"/>
          <p:cNvSpPr txBox="1"/>
          <p:nvPr/>
        </p:nvSpPr>
        <p:spPr>
          <a:xfrm>
            <a:off x="5943600" y="56692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example: $1 per 1M input + 20 output tokens per ticket at $4 per 1M. Prices vary; plug in your own.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5989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TypeSafe reports 40 to 200x faster and 40 to 400x cheaper than frontier LLMs on decision tasks (vendor figures).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operations, one connector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in the properties panel; the response shape stays the same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41148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731520" cy="731520"/>
          </a:xfrm>
          <a:prstGeom prst="ellipse">
            <a:avLst/>
          </a:prstGeom>
          <a:solidFill>
            <a:srgbClr val="D6339C"/>
          </a:solidFill>
          <a:ln w="12700">
            <a:solidFill>
              <a:srgbClr val="D6339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31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best option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160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to lose weight"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best book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4400" y="51206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BEAF5"/>
          </a:solidFill>
          <a:ln w="12700">
            <a:solidFill>
              <a:srgbClr val="FBEA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5120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3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jev.selection.id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97680" y="1828800"/>
            <a:ext cx="3474720" cy="41148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D6339C"/>
          </a:solidFill>
          <a:ln w="12700">
            <a:solidFill>
              <a:srgbClr val="D6339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3317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6344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Noul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466344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matching options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663440" y="4160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"Books that help me sleep"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every match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663440" y="51206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BEAF5"/>
          </a:solidFill>
          <a:ln w="12700">
            <a:solidFill>
              <a:srgbClr val="FBEAF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754880" y="5120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3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jev.filter.matches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046720" y="1828800"/>
            <a:ext cx="3474720" cy="41148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12480" y="2148840"/>
            <a:ext cx="731520" cy="731520"/>
          </a:xfrm>
          <a:prstGeom prst="ellipse">
            <a:avLst/>
          </a:prstGeom>
          <a:solidFill>
            <a:srgbClr val="D6339C"/>
          </a:solidFill>
          <a:ln w="12700">
            <a:solidFill>
              <a:srgbClr val="D6339C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33172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41248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endParaRPr lang="en-US" sz="2400" dirty="0"/>
          </a:p>
        </p:txBody>
      </p:sp>
      <p:sp>
        <p:nvSpPr>
          <p:cNvPr id="24" name="Text 19"/>
          <p:cNvSpPr txBox="1"/>
          <p:nvPr/>
        </p:nvSpPr>
        <p:spPr>
          <a:xfrm>
            <a:off x="841248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noul / choice / score questions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8412480" y="4160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urgency,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 in one call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8412480" y="51206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BEAF5"/>
          </a:solidFill>
          <a:ln w="12700">
            <a:solidFill>
              <a:srgbClr val="FBEAF5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503920" y="5120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3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jev.answers.&lt;id&gt;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book recommendation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request starts only the right tasks in an ad-hoc sub-process of 500 books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97280" y="2011680"/>
            <a:ext cx="914400" cy="914400"/>
          </a:xfrm>
          <a:prstGeom prst="ellipse">
            <a:avLst/>
          </a:prstGeom>
          <a:solidFill>
            <a:srgbClr val="1B1B2F"/>
          </a:solidFill>
          <a:ln w="12700">
            <a:solidFill>
              <a:srgbClr val="1B1B2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240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form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520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request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48840" y="2468880"/>
            <a:ext cx="1280160" cy="0"/>
          </a:xfrm>
          <a:prstGeom prst="line">
            <a:avLst/>
          </a:prstGeom>
          <a:noFill/>
          <a:ln w="25400">
            <a:solidFill>
              <a:srgbClr val="B8B8CC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383280" y="2011680"/>
            <a:ext cx="914400" cy="914400"/>
          </a:xfrm>
          <a:prstGeom prst="ellipse">
            <a:avLst/>
          </a:prstGeom>
          <a:solidFill>
            <a:srgbClr val="1B1B2F"/>
          </a:solidFill>
          <a:ln w="12700">
            <a:solidFill>
              <a:srgbClr val="1B1B2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2402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3464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tasks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834640" y="3520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reads the 500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tasks from BPMN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434840" y="2468880"/>
            <a:ext cx="1280160" cy="0"/>
          </a:xfrm>
          <a:prstGeom prst="line">
            <a:avLst/>
          </a:prstGeom>
          <a:noFill/>
          <a:ln w="25400">
            <a:solidFill>
              <a:srgbClr val="B8B8CC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669280" y="2011680"/>
            <a:ext cx="914400" cy="914400"/>
          </a:xfrm>
          <a:prstGeom prst="ellipse">
            <a:avLst/>
          </a:prstGeom>
          <a:solidFill>
            <a:srgbClr val="D6339C"/>
          </a:solidFill>
          <a:ln w="12700">
            <a:solidFill>
              <a:srgbClr val="D6339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2402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2064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Jev: Choice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120640" y="3520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top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720840" y="2468880"/>
            <a:ext cx="1280160" cy="0"/>
          </a:xfrm>
          <a:prstGeom prst="line">
            <a:avLst/>
          </a:prstGeom>
          <a:noFill/>
          <a:ln w="25400">
            <a:solidFill>
              <a:srgbClr val="B8B8CC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955280" y="2011680"/>
            <a:ext cx="914400" cy="914400"/>
          </a:xfrm>
          <a:prstGeom prst="ellipse">
            <a:avLst/>
          </a:prstGeom>
          <a:solidFill>
            <a:srgbClr val="1B1B2F"/>
          </a:solidFill>
          <a:ln w="12700">
            <a:solidFill>
              <a:srgbClr val="1B1B2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24028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sub-process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3520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only those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9006840" y="2468880"/>
            <a:ext cx="1280160" cy="0"/>
          </a:xfrm>
          <a:prstGeom prst="line">
            <a:avLst/>
          </a:prstGeom>
          <a:noFill/>
          <a:ln w="25400">
            <a:solidFill>
              <a:srgbClr val="B8B8CC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10241280" y="2011680"/>
            <a:ext cx="914400" cy="914400"/>
          </a:xfrm>
          <a:prstGeom prst="ellipse">
            <a:avLst/>
          </a:prstGeom>
          <a:solidFill>
            <a:srgbClr val="1B1B2F"/>
          </a:solidFill>
          <a:ln w="12700">
            <a:solidFill>
              <a:srgbClr val="1B1B2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880" y="224028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9264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9692640" y="3520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works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books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FBEAF5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2"/>
          <p:cNvSpPr txBox="1"/>
          <p:nvPr/>
        </p:nvSpPr>
        <p:spPr>
          <a:xfrm>
            <a:off x="822960" y="47548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task: 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= book  ·  Name = genre  ·  Documentation = short description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elements collection: 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63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=jev.selection.top.id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of any size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allows 255 options per question and 32k tokens per call. The connector handles both.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633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63240" y="2743200"/>
            <a:ext cx="274320" cy="0"/>
          </a:xfrm>
          <a:prstGeom prst="line">
            <a:avLst/>
          </a:prstGeom>
          <a:noFill/>
          <a:ln w="25400">
            <a:solidFill>
              <a:srgbClr val="B8B8C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83280" y="18288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83280" y="2011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633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of 250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97880" y="2743200"/>
            <a:ext cx="274320" cy="0"/>
          </a:xfrm>
          <a:prstGeom prst="line">
            <a:avLst/>
          </a:prstGeom>
          <a:noFill/>
          <a:ln w="25400">
            <a:solidFill>
              <a:srgbClr val="B8B8C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0" y="18288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17920" y="2011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633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finalists (top 3 each)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732520" y="2743200"/>
            <a:ext cx="274320" cy="0"/>
          </a:xfrm>
          <a:prstGeom prst="line">
            <a:avLst/>
          </a:prstGeom>
          <a:noFill/>
          <a:ln w="25400">
            <a:solidFill>
              <a:srgbClr val="B8B8C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52560" y="182880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D6339C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052560" y="20116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calls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to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6583680" y="40690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Token-aware batching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are split to stay under 20k tokens.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calls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calls per round by default.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option is sent once in round 1.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Traceable, structured response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process or an auditor needs, in one variable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760720" cy="4480560"/>
          </a:xfrm>
          <a:prstGeom prst="roundRect">
            <a:avLst>
              <a:gd name="adj" fmla="val 2041"/>
            </a:avLst>
          </a:prstGeom>
          <a:solidFill>
            <a:srgbClr val="1B1B2F"/>
          </a:solidFill>
          <a:ln w="12700">
            <a:solidFill>
              <a:srgbClr val="1B1B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A6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jev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A6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context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A6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  processInstanceKey, elementId, ...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A6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metrics   modelCalls, tokenUsage, durationMs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A6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     requestId, modelId, httpStatus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A6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selection   id, confidence, top, rounds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A6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      matches, matchCount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A6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answers     &lt;questionId&gt;: value, confidence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A6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needsReview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4A6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responseText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75120" y="178308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FBEAF5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949440" y="18928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option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22128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3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=jev.selection.id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75120" y="288036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FBEAF5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949440" y="29900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3101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3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=jev.selection.top.id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75120" y="397764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FBEAF5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949440" y="40873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matches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4407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3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=jev.filter.matches.id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75120" y="507492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FBEAF5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49440" y="51846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a person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5504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3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=jev.needsReview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question is "which of these?", "how much?" or "yes or no?", use Jev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0" y="17830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1FA37A"/>
          </a:solidFill>
          <a:ln w="12700">
            <a:solidFill>
              <a:srgbClr val="1FA37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488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fit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492240" y="2011680"/>
            <a:ext cx="548640" cy="548640"/>
          </a:xfrm>
          <a:prstGeom prst="ellipse">
            <a:avLst/>
          </a:prstGeom>
          <a:solidFill>
            <a:srgbClr val="D6339C"/>
          </a:solidFill>
          <a:ln w="12700">
            <a:solidFill>
              <a:srgbClr val="D6339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48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an LLM instead</a:t>
            </a:r>
            <a:endParaRPr lang="en-US" sz="2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3464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2770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and triage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310128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80160" y="3246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from a catalog</a:t>
            </a:r>
            <a:endParaRPr lang="en-US" sz="15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785616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37216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a list</a:t>
            </a:r>
            <a:endParaRPr lang="en-US" sz="15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261104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280160" y="41970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and tagging</a:t>
            </a:r>
            <a:endParaRPr lang="en-US" sz="15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736592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280160" y="46725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urgency or risk</a:t>
            </a:r>
            <a:endParaRPr lang="en-US" sz="15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5212080"/>
            <a:ext cx="228600" cy="22860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1280160" y="51480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and checks</a:t>
            </a:r>
            <a:endParaRPr lang="en-US" sz="15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5687568"/>
            <a:ext cx="228600" cy="22860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1280160" y="5623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or real-time steps</a:t>
            </a:r>
            <a:endParaRPr lang="en-US" sz="15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2834640"/>
            <a:ext cx="228600" cy="22860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6949440" y="2770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emails or reports</a:t>
            </a:r>
            <a:endParaRPr lang="en-US" sz="15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960" y="3310128"/>
            <a:ext cx="228600" cy="228600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6949440" y="3246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5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7960" y="3785616"/>
            <a:ext cx="228600" cy="228600"/>
          </a:xfrm>
          <a:prstGeom prst="rect">
            <a:avLst/>
          </a:prstGeom>
        </p:spPr>
      </p:pic>
      <p:sp>
        <p:nvSpPr>
          <p:cNvPr id="31" name="Text 17"/>
          <p:cNvSpPr txBox="1"/>
          <p:nvPr/>
        </p:nvSpPr>
        <p:spPr>
          <a:xfrm>
            <a:off x="6949440" y="37216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and conversation</a:t>
            </a:r>
            <a:endParaRPr lang="en-US" sz="150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7960" y="4261104"/>
            <a:ext cx="228600" cy="228600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6949440" y="41970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questions</a:t>
            </a:r>
            <a:endParaRPr lang="en-US" sz="1500" dirty="0"/>
          </a:p>
        </p:txBody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7960" y="4736592"/>
            <a:ext cx="228600" cy="228600"/>
          </a:xfrm>
          <a:prstGeom prst="rect">
            <a:avLst/>
          </a:prstGeom>
        </p:spPr>
      </p:pic>
      <p:sp>
        <p:nvSpPr>
          <p:cNvPr id="35" name="Text 19"/>
          <p:cNvSpPr txBox="1"/>
          <p:nvPr/>
        </p:nvSpPr>
        <p:spPr>
          <a:xfrm>
            <a:off x="6949440" y="46725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"why"</a:t>
            </a:r>
            <a:endParaRPr lang="en-US" sz="1500" dirty="0"/>
          </a:p>
        </p:txBody>
      </p:sp>
      <p:pic>
        <p:nvPicPr>
          <p:cNvPr id="3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7960" y="5212080"/>
            <a:ext cx="228600" cy="228600"/>
          </a:xfrm>
          <a:prstGeom prst="rect">
            <a:avLst/>
          </a:prstGeom>
        </p:spPr>
      </p:pic>
      <p:sp>
        <p:nvSpPr>
          <p:cNvPr id="37" name="Text 20"/>
          <p:cNvSpPr txBox="1"/>
          <p:nvPr/>
        </p:nvSpPr>
        <p:spPr>
          <a:xfrm>
            <a:off x="6949440" y="51480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multi-step reasoning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Camunda 8.9 Self-Managed, about 10 minutes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633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463040" y="1783080"/>
            <a:ext cx="10149840" cy="868680"/>
          </a:xfrm>
          <a:prstGeom prst="roundRect">
            <a:avLst>
              <a:gd name="adj" fmla="val 12632"/>
            </a:avLst>
          </a:prstGeom>
          <a:solidFill>
            <a:srgbClr val="F6F6FA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91640" y="1938528"/>
            <a:ext cx="548640" cy="548640"/>
          </a:xfrm>
          <a:prstGeom prst="ellipse">
            <a:avLst/>
          </a:prstGeom>
          <a:solidFill>
            <a:srgbClr val="D6339C"/>
          </a:solidFill>
          <a:ln w="12700">
            <a:solidFill>
              <a:srgbClr val="D6339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075688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468880" y="18745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18745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clean package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8803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633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Shape 8"/>
          <p:cNvSpPr/>
          <p:nvPr/>
        </p:nvSpPr>
        <p:spPr>
          <a:xfrm>
            <a:off x="1463040" y="2880360"/>
            <a:ext cx="101498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691640" y="3035808"/>
            <a:ext cx="548640" cy="548640"/>
          </a:xfrm>
          <a:prstGeom prst="ellipse">
            <a:avLst/>
          </a:prstGeom>
          <a:solidFill>
            <a:srgbClr val="D6339C"/>
          </a:solidFill>
          <a:ln w="12700">
            <a:solidFill>
              <a:srgbClr val="D6339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17296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468880" y="2971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secret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0" y="29718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SECRET_TYPESAFE_API_KEY=...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39776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633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Shape 13"/>
          <p:cNvSpPr/>
          <p:nvPr/>
        </p:nvSpPr>
        <p:spPr>
          <a:xfrm>
            <a:off x="1463040" y="3977640"/>
            <a:ext cx="10149840" cy="868680"/>
          </a:xfrm>
          <a:prstGeom prst="roundRect">
            <a:avLst>
              <a:gd name="adj" fmla="val 12632"/>
            </a:avLst>
          </a:prstGeom>
          <a:solidFill>
            <a:srgbClr val="F6F6FA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691640" y="4133088"/>
            <a:ext cx="548640" cy="548640"/>
          </a:xfrm>
          <a:prstGeom prst="ellipse">
            <a:avLst/>
          </a:prstGeom>
          <a:solidFill>
            <a:srgbClr val="D6339C"/>
          </a:solidFill>
          <a:ln w="12700">
            <a:solidFill>
              <a:srgbClr val="D6339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427024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468880" y="4069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jar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0" y="406908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in /opt/custom, recreate connectors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0749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633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3" name="Shape 18"/>
          <p:cNvSpPr/>
          <p:nvPr/>
        </p:nvSpPr>
        <p:spPr>
          <a:xfrm>
            <a:off x="1463040" y="5074920"/>
            <a:ext cx="101498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4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691640" y="5230368"/>
            <a:ext cx="548640" cy="548640"/>
          </a:xfrm>
          <a:prstGeom prst="ellipse">
            <a:avLst/>
          </a:prstGeom>
          <a:solidFill>
            <a:srgbClr val="D6339C"/>
          </a:solidFill>
          <a:ln w="12700">
            <a:solidFill>
              <a:srgbClr val="D6339C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536752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468880" y="5166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template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0" y="51663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5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JSON, select "Jev AI Decision Connector"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3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key in Camunda secrets. A key typed into the panel is saved in the BPMN and visible in Operate.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fast.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974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A6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only when you need to.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AI Decision Connector for Camunda 8  ·  io.github.rajeshponna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community project, not affiliated with TypeSafe AI or Camunda. Performance and pricing figures are vendor-published; verify on your own workloads.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Jev AI Decision Connector for Camunda 8</dc:title>
  <dc:subject>PptxGenJS Presentation</dc:subject>
  <dc:creator>Rajesh Ponna</dc:creator>
  <cp:lastModifiedBy>Rajesh Ponna</cp:lastModifiedBy>
  <cp:revision>1</cp:revision>
  <dcterms:created xsi:type="dcterms:W3CDTF">2026-09-29T09:29:38Z</dcterms:created>
  <dcterms:modified xsi:type="dcterms:W3CDTF">2026-09-29T09:29:38Z</dcterms:modified>
</cp:coreProperties>
</file>